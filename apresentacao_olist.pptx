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743200"/>
            <a:ext cx="128016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0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Previsão de Satisfação do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260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BB8C3"/>
                </a:solidFill>
              </a:rPr>
              <a:t>Análise Exploratória de Dados — Brazilian E-Commerce (Olist)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12648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</a:rPr>
              <a:t>Mineração de Dados Aplicada  ·  CIn / UFPE  ·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80160"/>
            <a:ext cx="594360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716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</a:rPr>
              <a:t>Contexto e domínio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26080"/>
            <a:ext cx="594360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0175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</a:rPr>
              <a:t>Problema de negócio &amp; variável-alvo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572000"/>
            <a:ext cx="594360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6634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</a:rPr>
              <a:t>Estrutura do dataset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280160"/>
            <a:ext cx="594360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28016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13716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</a:rPr>
              <a:t>Metodologia (train/test split)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926080"/>
            <a:ext cx="594360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92608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0175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</a:rPr>
              <a:t>Análise exploratória — principais achados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4572000"/>
            <a:ext cx="594360" cy="5943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4572000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46634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1E293B"/>
                </a:solidFill>
              </a:rPr>
              <a:t>Conclusões e próximos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Contexto e Domínio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7132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800">
                <a:solidFill>
                  <a:srgbClr val="1E293B"/>
                </a:solidFill>
              </a:rPr>
              <a:t>▸  Dataset público da Olist disponibilizado no Kaggle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1E293B"/>
                </a:solidFill>
              </a:rPr>
              <a:t>▸  Dados reais e anonimizados de marketplaces brasileiros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1E293B"/>
                </a:solidFill>
              </a:rPr>
              <a:t>▸  Período coberto: 2016 a 2018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1E293B"/>
                </a:solidFill>
              </a:rPr>
              <a:t>▸  ~100 mil pedidos distribuídos em 8 arquivos CSV</a:t>
            </a:r>
          </a:p>
          <a:p>
            <a:pPr>
              <a:spcBef>
                <a:spcPts val="500"/>
              </a:spcBef>
            </a:pPr>
            <a:r>
              <a:rPr sz="1800">
                <a:solidFill>
                  <a:srgbClr val="1E293B"/>
                </a:solidFill>
              </a:rPr>
              <a:t>▸  Perspectivas: produtos, pagamentos, logística, clientes e avaliações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0" y="1188720"/>
            <a:ext cx="301752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12344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99.4 mil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1783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Pedidos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2560320"/>
            <a:ext cx="301752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26060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96.1 mil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31546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Clientes únicos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3931920"/>
            <a:ext cx="301752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0" y="39776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32.9 mil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526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Produtos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0" y="5303520"/>
            <a:ext cx="301752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534924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3.1 mil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58978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Vendedores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Problema de Negócio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1371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1E293B"/>
                </a:solidFill>
              </a:rPr>
              <a:t>"Prever a nota de satisfação do cliente após uma compra,
identificando pedidos com maior risco de gerar avaliações ruins."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B82F6"/>
                </a:solidFill>
              </a:rPr>
              <a:t>Por que isso importa?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1E293B"/>
                </a:solidFill>
              </a:rPr>
              <a:t>▸  Avaliações negativas afetam confiança, recompra e reputação do marketplace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1E293B"/>
                </a:solidFill>
              </a:rPr>
              <a:t>▸  Permite ação preventiva: contato proativo, priorização de suporte, revisão logística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1E293B"/>
                </a:solidFill>
              </a:rPr>
              <a:t>▸  Detectar pedidos com risco de 1-2 estrelas antes da entrega gera valor real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94960"/>
            <a:ext cx="1124712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5321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Variável-alvo:  review_score  (1 a 5 estrelas)  —  Classificação Multiclasse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544068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BB8C3"/>
                </a:solidFill>
              </a:rPr>
              <a:t>⚠  Atenção ética: não responsabilizar
exclusivamente vendedores por falhas logísticas.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Estrutura do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2560320" cy="52120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097280"/>
            <a:ext cx="25603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Arquivo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097280"/>
            <a:ext cx="1737360" cy="52120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81528" y="1097280"/>
            <a:ext cx="173736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Dimensão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097280"/>
            <a:ext cx="6949440" cy="521207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10328" y="1097280"/>
            <a:ext cx="694944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Conteúdo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618487"/>
            <a:ext cx="2560320" cy="52120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682495"/>
            <a:ext cx="24688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orders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1618487"/>
            <a:ext cx="1737360" cy="52120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81528" y="1682495"/>
            <a:ext cx="16459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99.441 × 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1618487"/>
            <a:ext cx="6949440" cy="52120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0328" y="1682495"/>
            <a:ext cx="68580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Pedidos: status, datas de compra, aprovação e entrega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139694"/>
            <a:ext cx="256032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2203702"/>
            <a:ext cx="24688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customers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2139694"/>
            <a:ext cx="173736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81528" y="2203702"/>
            <a:ext cx="16459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99.441 × 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2139694"/>
            <a:ext cx="694944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0328" y="2203702"/>
            <a:ext cx="68580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Clientes: ID único, cidade, estado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660901"/>
            <a:ext cx="2560320" cy="52120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2724909"/>
            <a:ext cx="24688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order_items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2660901"/>
            <a:ext cx="1737360" cy="52120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81528" y="2724909"/>
            <a:ext cx="16459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112.650 × 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660901"/>
            <a:ext cx="6949440" cy="52120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10328" y="2724909"/>
            <a:ext cx="68580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Itens: produto, vendedor, preço, frete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3182108"/>
            <a:ext cx="256032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8" y="3246116"/>
            <a:ext cx="24688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order_payments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3182108"/>
            <a:ext cx="173736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81528" y="3246116"/>
            <a:ext cx="16459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103.886 × 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3182108"/>
            <a:ext cx="694944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10328" y="3246116"/>
            <a:ext cx="68580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Pagamentos: tipo, parcelas, valor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703315"/>
            <a:ext cx="2560320" cy="52120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9768" y="3767323"/>
            <a:ext cx="24688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order_reviews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017520" y="3703315"/>
            <a:ext cx="1737360" cy="52120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81528" y="3767323"/>
            <a:ext cx="16459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99.224 × 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0" y="3703315"/>
            <a:ext cx="6949440" cy="52120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10328" y="3767323"/>
            <a:ext cx="68580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Avaliações: nota, comentário, data  ← TARGET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224522"/>
            <a:ext cx="256032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8" y="4288530"/>
            <a:ext cx="24688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products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017520" y="4224522"/>
            <a:ext cx="173736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81528" y="4288530"/>
            <a:ext cx="16459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32.951 × 9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46320" y="4224522"/>
            <a:ext cx="694944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910328" y="4288530"/>
            <a:ext cx="68580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Produtos: categoria, dimensões, peso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745729"/>
            <a:ext cx="2560320" cy="52120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9768" y="4809737"/>
            <a:ext cx="24688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sellers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017520" y="4745729"/>
            <a:ext cx="1737360" cy="52120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81528" y="4809737"/>
            <a:ext cx="16459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3.095 × 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46320" y="4745729"/>
            <a:ext cx="6949440" cy="521207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10328" y="4809737"/>
            <a:ext cx="68580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Vendedores: localização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266936"/>
            <a:ext cx="256032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9768" y="5330944"/>
            <a:ext cx="246888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categories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17520" y="5266936"/>
            <a:ext cx="173736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081528" y="5330944"/>
            <a:ext cx="164592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71 × 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46320" y="5266936"/>
            <a:ext cx="694944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10328" y="5330944"/>
            <a:ext cx="685800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</a:rPr>
              <a:t>Tradução de categorias PT → 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Metodologia — Train/Test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E293B"/>
                </a:solidFill>
              </a:rPr>
              <a:t>A Regra de Ouro: separar ANTES de qualquer análise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916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</a:rPr>
              <a:t>Toda a EDA foi feita exclusivamente com os dados de treino (X_train, y_train).
Isso evita o Data Leakage — vazamento de informação do teste para o treino.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788920"/>
            <a:ext cx="9418320" cy="685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788920"/>
            <a:ext cx="9418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Dataset completo  (99.224 pedidos com avaliação)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5661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4748B"/>
                </a:solidFill>
              </a:rPr>
              <a:t>▼  train_test_split(test_size=0.2, stratify=y, random_state=42)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023360"/>
            <a:ext cx="5577840" cy="10972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5577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X_train  +  y_train
80%  —  ~79.4 mil pedidos
Usado na EDA e no treino do modelo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4023360"/>
            <a:ext cx="4663440" cy="10972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402336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X_test  +  y_test
20%  —  ~19.8 mil pedidos
Só usado na avaliação final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64748B"/>
                </a:solidFill>
              </a:rPr>
              <a:t>stratify=y  garante que a proporção de cada nota (1–5) seja preservada nos dois conjuntos.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Distribuição da Variável-Alvo</a:t>
            </a:r>
          </a:p>
        </p:txBody>
      </p:sp>
      <p:pic>
        <p:nvPicPr>
          <p:cNvPr id="4" name="Picture 3" descr="01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097280"/>
            <a:ext cx="731520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1371600"/>
            <a:ext cx="3749039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600">
                <a:solidFill>
                  <a:srgbClr val="1E293B"/>
                </a:solidFill>
              </a:rPr>
              <a:t>▸  Nota 5 representa ~57% dos pedidos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1E293B"/>
                </a:solidFill>
              </a:rPr>
              <a:t>▸  Classes 2 e 3 são as mais raras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1E293B"/>
                </a:solidFill>
              </a:rPr>
              <a:t>▸  Dataset fortemente desbalanceado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1E293B"/>
                </a:solidFill>
              </a:rPr>
              <a:t>▸  Acurácia simples será enganosa</a:t>
            </a:r>
          </a:p>
          <a:p>
            <a:pPr>
              <a:spcBef>
                <a:spcPts val="500"/>
              </a:spcBef>
            </a:pPr>
            <a:r>
              <a:rPr sz="1600">
                <a:solidFill>
                  <a:srgbClr val="1E293B"/>
                </a:solidFill>
              </a:rPr>
              <a:t>▸  Métrica correta:
weighted F1  ou  macro F1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Principal Achado — Impacto da Logística na Satisfação</a:t>
            </a:r>
          </a:p>
        </p:txBody>
      </p:sp>
      <p:pic>
        <p:nvPicPr>
          <p:cNvPr id="4" name="Picture 3" descr="02_delivery_l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4937760" cy="3566160"/>
          </a:xfrm>
          <a:prstGeom prst="rect">
            <a:avLst/>
          </a:prstGeom>
        </p:spPr>
      </p:pic>
      <p:pic>
        <p:nvPicPr>
          <p:cNvPr id="5" name="Picture 4" descr="03_delivery_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097280"/>
            <a:ext cx="6583680" cy="3566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4800600"/>
            <a:ext cx="11704320" cy="1554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89204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93B"/>
                </a:solidFill>
              </a:rPr>
              <a:t>Conclusao: pedidos atrasados recebem notas significativamente menores.
Quanto maior o tempo de entrega, menor a nota.
A logística é o principal driver de insatisfação neste dataset.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Categorias de Produto e Comportamento Temporal</a:t>
            </a:r>
          </a:p>
        </p:txBody>
      </p:sp>
      <p:pic>
        <p:nvPicPr>
          <p:cNvPr id="4" name="Picture 3" descr="05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5760720" cy="4754880"/>
          </a:xfrm>
          <a:prstGeom prst="rect">
            <a:avLst/>
          </a:prstGeom>
        </p:spPr>
      </p:pic>
      <p:pic>
        <p:nvPicPr>
          <p:cNvPr id="5" name="Picture 4" descr="04_month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669280" cy="47548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9436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</a:rPr>
              <a:t>Top 10 categorias por volume de itens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59436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4748B"/>
                </a:solidFill>
              </a:rPr>
              <a:t>Crescimento acelerado em 2017-2018 — pico em nov. (Black Friday)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Correlações entre Variáveis Numéricas</a:t>
            </a:r>
          </a:p>
        </p:txBody>
      </p:sp>
      <p:pic>
        <p:nvPicPr>
          <p:cNvPr id="4" name="Picture 3" descr="06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658368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37160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▸  delivery_late e review_score: correlação negativa — confirma impacto do atraso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▸  delivery_time_days e review_score: correlação negativa — quanto mais demora, pior a nota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▸  total_price e payment_value: altamente correlacionados — candidato a remoção (redundância)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▸  n_items tem baixa correlação com o target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1E293B"/>
                </a:solidFill>
              </a:rPr>
              <a:t>▸  payment_installments tem leve correlação positiva com o valor pago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3716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Conclusões da EDA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61872"/>
            <a:ext cx="64008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887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Desbalanceamento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91056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Nota 5 domina (~57%). Usar weighted / macro F1 como métrica de avaliação.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67712"/>
            <a:ext cx="64008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194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Driver principal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96896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Logística (atraso + tempo de entrega) é o fator mais correlacionado com insatisfação.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73552"/>
            <a:ext cx="64008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200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Valores ausentes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602736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delivery_time_days tem NaNs em pedidos não entregues — imputar com mediana ou criar flag binário.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79392"/>
            <a:ext cx="64008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4206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Variação regional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608576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Nota média varia por estado — indicativo de qualidade logística regional desigual.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285232"/>
            <a:ext cx="64008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5212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</a:rPr>
              <a:t>Sazonalidade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14416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4748B"/>
                </a:solidFill>
              </a:rPr>
              <a:t>Crescimento acelerado em 2017-2018; pico em novembro (Black Friday). Sazonalidade relevante.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Próximos Passos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234440"/>
            <a:ext cx="109728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463040"/>
            <a:ext cx="64008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463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Pré-processamento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8745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BB8C3"/>
                </a:solidFill>
              </a:rPr>
              <a:t>Tratar NaNs, encoding de categóricas, normalização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08960"/>
            <a:ext cx="64008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1089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108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Feature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204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BB8C3"/>
                </a:solidFill>
              </a:rPr>
              <a:t>Novas features derivadas de logística, temporais e de produto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754880"/>
            <a:ext cx="64008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4754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75488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Modelagem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16636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BB8C3"/>
                </a:solidFill>
              </a:rPr>
              <a:t>Testar Random Forest, XGBoost e outros classificadores multiclasse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463040"/>
            <a:ext cx="64008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146304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Avaliação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187452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BB8C3"/>
                </a:solidFill>
              </a:rPr>
              <a:t>Macro F1 e weighted F1 como métricas principais; análise por classe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3108960"/>
            <a:ext cx="640080" cy="6400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1089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10896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Interpretabilidade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5204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BB8C3"/>
                </a:solidFill>
              </a:rPr>
              <a:t>SHAP values para explicar predições e monitorar viés por região/categoria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